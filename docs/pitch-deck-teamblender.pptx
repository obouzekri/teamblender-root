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658368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635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475488" cy="47548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2500" b="0" i="0">
                <a:solidFill>
                  <a:srgbClr val="1B1930"/>
                </a:solidFill>
                <a:latin typeface="Segoe UI Emoji"/>
              </a:rPr>
              <a:t>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740664"/>
            <a:ext cx="2743200" cy="32004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TeamBlender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600200"/>
            <a:ext cx="1508760" cy="301752"/>
          </a:xfrm>
          <a:prstGeom prst="roundRect">
            <a:avLst>
              <a:gd name="adj" fmla="val 12000"/>
            </a:avLst>
          </a:prstGeom>
          <a:solidFill>
            <a:srgbClr val="41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23060"/>
            <a:ext cx="1435607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E6E2FF"/>
                </a:solidFill>
                <a:latin typeface="Aptos"/>
              </a:rPr>
              <a:t>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75688"/>
            <a:ext cx="7498079" cy="13258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3700" b="1" i="0">
                <a:solidFill>
                  <a:srgbClr val="FFFFFF"/>
                </a:solidFill>
                <a:latin typeface="Aptos"/>
              </a:rPr>
              <a:t>Le collectif ne se décrète pas.
Il se construit.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767328"/>
            <a:ext cx="6903720" cy="85953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900" b="0" i="0">
                <a:solidFill>
                  <a:srgbClr val="D9D6EF"/>
                </a:solidFill>
                <a:latin typeface="Aptos"/>
              </a:rPr>
              <a:t>La plateforme SaaS qui transforme le team building en expérience collaborative, guidée et mesurable.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257800"/>
            <a:ext cx="5486400" cy="32004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1" i="0">
                <a:solidFill>
                  <a:srgbClr val="C7F5E5"/>
                </a:solidFill>
                <a:latin typeface="Aptos"/>
              </a:rPr>
              <a:t>Préparer  ·  Jouer  ·  Progresser ensemble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86000"/>
            <a:ext cx="2057400" cy="205740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8200" b="0" i="0">
                <a:solidFill>
                  <a:srgbClr val="1B1930"/>
                </a:solidFill>
                <a:latin typeface="Segoe UI Emoji"/>
              </a:rPr>
              <a:t>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83096"/>
            <a:ext cx="7772400" cy="1828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800" b="1" i="0">
                <a:solidFill>
                  <a:srgbClr val="B1AECD"/>
                </a:solidFill>
                <a:latin typeface="Aptos"/>
              </a:rPr>
              <a:t>TEAMBLENDER  ·  INVESTOR DECK  ·  CONFIDENTIEL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55664"/>
            <a:ext cx="777240" cy="2011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r"/>
            <a:r>
              <a:rPr sz="900" b="1" i="0">
                <a:solidFill>
                  <a:srgbClr val="B1AECD"/>
                </a:solidFill>
                <a:latin typeface="Aptos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89920" cy="23774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000" b="1" i="0">
                <a:solidFill>
                  <a:srgbClr val="473BA6"/>
                </a:solidFill>
                <a:latin typeface="Aptos"/>
              </a:rPr>
              <a:t>01 · THÈSE D’INVESTISSEMENT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31520"/>
            <a:ext cx="10789920" cy="76809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2900" b="1" i="0">
                <a:solidFill>
                  <a:srgbClr val="1B1930"/>
                </a:solidFill>
                <a:latin typeface="Aptos"/>
              </a:rPr>
              <a:t>Une expérience live pour faire grandir le collectif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6192"/>
            <a:ext cx="1051560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68677C"/>
                </a:solidFill>
                <a:latin typeface="Aptos"/>
              </a:rPr>
              <a:t>TeamBlender réunit le logiciel d’animation et les challenges interactifs dans un seul parcours.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60604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5256" y="24505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45059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008376"/>
            <a:ext cx="2203704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B1930"/>
                </a:solidFill>
                <a:latin typeface="Aptos"/>
              </a:rPr>
              <a:t>Produit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511296"/>
            <a:ext cx="2203704" cy="8869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Créer une session, inviter l’équipe, lancer un challenge live et consulter le résultat.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2286000"/>
            <a:ext cx="260604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66744" y="24505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245059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3008376"/>
            <a:ext cx="2203704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B1930"/>
                </a:solidFill>
                <a:latin typeface="Aptos"/>
              </a:rPr>
              <a:t>Client cible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3511296"/>
            <a:ext cx="2203704" cy="8869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Managers, RH et facilitateurs qui veulent structurer leurs temps collectifs.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286000"/>
            <a:ext cx="260604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28232" y="24505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45059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203704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B1930"/>
                </a:solidFill>
                <a:latin typeface="Aptos"/>
              </a:rPr>
              <a:t>Monétisation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511296"/>
            <a:ext cx="2203704" cy="8869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Offre SaaS Free / Pro / Enterprise avec limites d’usage et accès aux fonctionnalités.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15984" y="2286000"/>
            <a:ext cx="242316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89719" y="24505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245059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3008376"/>
            <a:ext cx="2020824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B1930"/>
                </a:solidFill>
                <a:latin typeface="Aptos"/>
              </a:rPr>
              <a:t>Stade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3511296"/>
            <a:ext cx="2020824" cy="8869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MVP produit documenté. Traction commerciale et métriques à partager avec données validées.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92040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056632"/>
            <a:ext cx="10149840" cy="34747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400" b="1" i="0">
                <a:solidFill>
                  <a:srgbClr val="473BA6"/>
                </a:solidFill>
                <a:latin typeface="Aptos"/>
              </a:rPr>
              <a:t>Thèse : mieux équiper l’animation pour rendre les moments d’équipe plus simples à lancer et à répéter.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83096"/>
            <a:ext cx="7772400" cy="1828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800" b="1" i="0">
                <a:solidFill>
                  <a:srgbClr val="8F8E9F"/>
                </a:solidFill>
                <a:latin typeface="Aptos"/>
              </a:rPr>
              <a:t>TEAMBLENDER  ·  INVESTOR DECK  ·  CONFIDENTIEL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55664"/>
            <a:ext cx="777240" cy="2011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r"/>
            <a:r>
              <a:rPr sz="900" b="1" i="0">
                <a:solidFill>
                  <a:srgbClr val="8F8E9F"/>
                </a:solidFill>
                <a:latin typeface="Aptos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89920" cy="23774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000" b="1" i="0">
                <a:solidFill>
                  <a:srgbClr val="473BA6"/>
                </a:solidFill>
                <a:latin typeface="Aptos"/>
              </a:rPr>
              <a:t>02 ·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31520"/>
            <a:ext cx="10789920" cy="76809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2900" b="1" i="0">
                <a:solidFill>
                  <a:srgbClr val="1B1930"/>
                </a:solidFill>
                <a:latin typeface="Aptos"/>
              </a:rPr>
              <a:t>Le team building est souvent plus difficile à organiser qu’à imaginer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6192"/>
            <a:ext cx="1051560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68677C"/>
                </a:solidFill>
                <a:latin typeface="Aptos"/>
              </a:rPr>
              <a:t>Le besoin n’est pas seulement une activité : c’est une expérience qui fonctionne du début à la fin.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429000" cy="2176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5256" y="24505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45059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008376"/>
            <a:ext cx="3026664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B1930"/>
                </a:solidFill>
                <a:latin typeface="Aptos"/>
              </a:rPr>
              <a:t>Préparation dispersée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511296"/>
            <a:ext cx="3026664" cy="822959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Choisir un format, préparer les consignes, organiser les participants : une charge qui freine la mise en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286000"/>
            <a:ext cx="3429000" cy="2176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24505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45059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008376"/>
            <a:ext cx="3026664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B1930"/>
                </a:solidFill>
                <a:latin typeface="Aptos"/>
              </a:rPr>
              <a:t>Animation exigeante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511296"/>
            <a:ext cx="3026664" cy="822959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Le facilitateur doit guider le groupe tout en gérant le rythme, les étapes et l’engagement.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2286000"/>
            <a:ext cx="3429000" cy="2176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93023" y="24505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3" y="245059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3008376"/>
            <a:ext cx="3026664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B1930"/>
                </a:solidFill>
                <a:latin typeface="Aptos"/>
              </a:rPr>
              <a:t>Impact à prolonger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3511296"/>
            <a:ext cx="3026664" cy="822959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Sans déroulé clair ni résultat partagé, le moment collectif peut rester un événement isolé.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104698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200" b="0" i="1">
                <a:solidFill>
                  <a:srgbClr val="68677C"/>
                </a:solidFill>
                <a:latin typeface="Aptos"/>
              </a:rPr>
              <a:t>À valider par entretiens clients : fréquence du problème, budget actuel, solutions de remplacement et coût de coordination.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83096"/>
            <a:ext cx="7772400" cy="1828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800" b="1" i="0">
                <a:solidFill>
                  <a:srgbClr val="8F8E9F"/>
                </a:solidFill>
                <a:latin typeface="Aptos"/>
              </a:rPr>
              <a:t>TEAMBLENDER  ·  INVESTOR DECK  ·  CONFIDENTIEL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55664"/>
            <a:ext cx="777240" cy="2011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r"/>
            <a:r>
              <a:rPr sz="900" b="1" i="0">
                <a:solidFill>
                  <a:srgbClr val="8F8E9F"/>
                </a:solidFill>
                <a:latin typeface="Aptos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89920" cy="23774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000" b="1" i="0">
                <a:solidFill>
                  <a:srgbClr val="473BA6"/>
                </a:solidFill>
                <a:latin typeface="Aptos"/>
              </a:rPr>
              <a:t>03 ·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31520"/>
            <a:ext cx="10789920" cy="76809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2900" b="1" i="0">
                <a:solidFill>
                  <a:srgbClr val="1B1930"/>
                </a:solidFill>
                <a:latin typeface="Aptos"/>
              </a:rPr>
              <a:t>Un poste de pilotage pour les expériences d’équipe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6192"/>
            <a:ext cx="1051560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68677C"/>
                </a:solidFill>
                <a:latin typeface="Aptos"/>
              </a:rPr>
              <a:t>Un parcours cohérent pour les organisateurs et les participants, de la préparation au bilan.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395728"/>
            <a:ext cx="246888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596896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19756"/>
            <a:ext cx="429768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473BA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145536"/>
            <a:ext cx="20574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800" b="1" i="0">
                <a:solidFill>
                  <a:srgbClr val="1B1930"/>
                </a:solidFill>
                <a:latin typeface="Aptos"/>
              </a:rPr>
              <a:t>Préparer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602736"/>
            <a:ext cx="20574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200" b="0" i="0">
                <a:solidFill>
                  <a:srgbClr val="68677C"/>
                </a:solidFill>
                <a:latin typeface="Aptos"/>
              </a:rPr>
              <a:t>Créer une session et sélectionner un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1" y="3136392"/>
            <a:ext cx="2743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2100" b="1" i="0">
                <a:solidFill>
                  <a:srgbClr val="6353DE"/>
                </a:solidFill>
                <a:latin typeface="Segoe UI Emoj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2736" y="2395728"/>
            <a:ext cx="246888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85615" y="2596896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2619756"/>
            <a:ext cx="429768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473BA6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615" y="3145536"/>
            <a:ext cx="20574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800" b="1" i="0">
                <a:solidFill>
                  <a:srgbClr val="1B1930"/>
                </a:solidFill>
                <a:latin typeface="Aptos"/>
              </a:rPr>
              <a:t>Rassembler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5" y="3602736"/>
            <a:ext cx="20574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200" b="0" i="0">
                <a:solidFill>
                  <a:srgbClr val="68677C"/>
                </a:solidFill>
                <a:latin typeface="Aptos"/>
              </a:rPr>
              <a:t>Assigner les participants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3136392"/>
            <a:ext cx="2743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2100" b="1" i="0">
                <a:solidFill>
                  <a:srgbClr val="6353DE"/>
                </a:solidFill>
                <a:latin typeface="Segoe UI Emoj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2395728"/>
            <a:ext cx="246888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38544" y="2596896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619756"/>
            <a:ext cx="429768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473BA6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3145536"/>
            <a:ext cx="20574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800" b="1" i="0">
                <a:solidFill>
                  <a:srgbClr val="1B1930"/>
                </a:solidFill>
                <a:latin typeface="Aptos"/>
              </a:rPr>
              <a:t>Animer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3602736"/>
            <a:ext cx="20574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200" b="0" i="0">
                <a:solidFill>
                  <a:srgbClr val="68677C"/>
                </a:solidFill>
                <a:latin typeface="Aptos"/>
              </a:rPr>
              <a:t>Lancer et piloter l’activité en direct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3136392"/>
            <a:ext cx="2743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2100" b="1" i="0">
                <a:solidFill>
                  <a:srgbClr val="6353DE"/>
                </a:solidFill>
                <a:latin typeface="Segoe UI Emoj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08592" y="2395728"/>
            <a:ext cx="246888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91472" y="2596896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8047" y="2619756"/>
            <a:ext cx="429768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473BA6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3145536"/>
            <a:ext cx="20574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800" b="1" i="0">
                <a:solidFill>
                  <a:srgbClr val="1B1930"/>
                </a:solidFill>
                <a:latin typeface="Aptos"/>
              </a:rPr>
              <a:t>Prolonger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3602736"/>
            <a:ext cx="20574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200" b="0" i="0">
                <a:solidFill>
                  <a:srgbClr val="68677C"/>
                </a:solidFill>
                <a:latin typeface="Aptos"/>
              </a:rPr>
              <a:t>Suivre la progression et consulter les résultats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892040"/>
            <a:ext cx="10652760" cy="566928"/>
          </a:xfrm>
          <a:prstGeom prst="roundRect">
            <a:avLst>
              <a:gd name="adj" fmla="val 12000"/>
            </a:avLst>
          </a:prstGeom>
          <a:solidFill>
            <a:srgbClr val="EB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5029200"/>
            <a:ext cx="10149840" cy="29260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400" b="1" i="0">
                <a:solidFill>
                  <a:srgbClr val="2D6F59"/>
                </a:solidFill>
                <a:latin typeface="Aptos"/>
              </a:rPr>
              <a:t>Valeur produit : structurer l’expérience sans retirer au facilitateur son rôle humain.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83096"/>
            <a:ext cx="7772400" cy="1828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800" b="1" i="0">
                <a:solidFill>
                  <a:srgbClr val="8F8E9F"/>
                </a:solidFill>
                <a:latin typeface="Aptos"/>
              </a:rPr>
              <a:t>TEAMBLENDER  ·  INVESTOR DECK  ·  CONFIDENTIEL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55664"/>
            <a:ext cx="777240" cy="2011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r"/>
            <a:r>
              <a:rPr sz="900" b="1" i="0">
                <a:solidFill>
                  <a:srgbClr val="8F8E9F"/>
                </a:solidFill>
                <a:latin typeface="Aptos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89920" cy="23774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000" b="1" i="0">
                <a:solidFill>
                  <a:srgbClr val="473BA6"/>
                </a:solidFill>
                <a:latin typeface="Aptos"/>
              </a:rPr>
              <a:t>04 · PRODUIT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31520"/>
            <a:ext cx="10789920" cy="76809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2900" b="1" i="0">
                <a:solidFill>
                  <a:srgbClr val="1B1930"/>
                </a:solidFill>
                <a:latin typeface="Aptos"/>
              </a:rPr>
              <a:t>Des challenges variés, servis par un parcours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6192"/>
            <a:ext cx="1051560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68677C"/>
                </a:solidFill>
                <a:latin typeface="Aptos"/>
              </a:rPr>
              <a:t>Le catalogue actuel comprend sept formats de challenge documentés.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267712"/>
            <a:ext cx="260604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32304"/>
            <a:ext cx="530352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2400" b="0" i="0">
                <a:solidFill>
                  <a:srgbClr val="1B1930"/>
                </a:solidFill>
                <a:latin typeface="Segoe UI Emoji"/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9616" y="2505456"/>
            <a:ext cx="1691640" cy="34747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/>
            <a:r>
              <a:rPr sz="1400" b="1" i="0">
                <a:solidFill>
                  <a:srgbClr val="1B1930"/>
                </a:solidFill>
                <a:latin typeface="Aptos"/>
              </a:rPr>
              <a:t>Escape Room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84448" y="2267712"/>
            <a:ext cx="260604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2463" y="2432304"/>
            <a:ext cx="530352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2400" b="0" i="0">
                <a:solidFill>
                  <a:srgbClr val="1B1930"/>
                </a:solidFill>
                <a:latin typeface="Segoe UI Emoji"/>
              </a:rP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4256" y="2505456"/>
            <a:ext cx="1691640" cy="34747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/>
            <a:r>
              <a:rPr sz="1400" b="1" i="0">
                <a:solidFill>
                  <a:srgbClr val="1B1930"/>
                </a:solidFill>
                <a:latin typeface="Aptos"/>
              </a:rPr>
              <a:t>Phrase Mystère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9088" y="2267712"/>
            <a:ext cx="260604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432304"/>
            <a:ext cx="530352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2400" b="0" i="0">
                <a:solidFill>
                  <a:srgbClr val="1B1930"/>
                </a:solidFill>
                <a:latin typeface="Segoe UI Emoji"/>
              </a:rPr>
              <a:t>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2505456"/>
            <a:ext cx="1691640" cy="34747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/>
            <a:r>
              <a:rPr sz="1400" b="1" i="0">
                <a:solidFill>
                  <a:srgbClr val="1B1930"/>
                </a:solidFill>
                <a:latin typeface="Aptos"/>
              </a:rPr>
              <a:t>CoPuzzle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267712"/>
            <a:ext cx="260604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1744" y="2432304"/>
            <a:ext cx="530352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2400" b="0" i="0">
                <a:solidFill>
                  <a:srgbClr val="1B1930"/>
                </a:solidFill>
                <a:latin typeface="Segoe UI Emoji"/>
              </a:rPr>
              <a:t>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3536" y="2505456"/>
            <a:ext cx="1691640" cy="34747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/>
            <a:r>
              <a:rPr sz="1400" b="1" i="0">
                <a:solidFill>
                  <a:srgbClr val="1B1930"/>
                </a:solidFill>
                <a:latin typeface="Aptos"/>
              </a:rPr>
              <a:t>Labyrinthe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429000"/>
            <a:ext cx="260604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3593592"/>
            <a:ext cx="530352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2400" b="0" i="0">
                <a:solidFill>
                  <a:srgbClr val="1B1930"/>
                </a:solidFill>
                <a:latin typeface="Segoe UI Emoji"/>
              </a:rPr>
              <a:t>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3666744"/>
            <a:ext cx="1691640" cy="34747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/>
            <a:r>
              <a:rPr sz="1400" b="1" i="0">
                <a:solidFill>
                  <a:srgbClr val="1B1930"/>
                </a:solidFill>
                <a:latin typeface="Aptos"/>
              </a:rPr>
              <a:t>Mission Critique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84448" y="3429000"/>
            <a:ext cx="260604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2463" y="3593592"/>
            <a:ext cx="530352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2400" b="0" i="0">
                <a:solidFill>
                  <a:srgbClr val="1B1930"/>
                </a:solidFill>
                <a:latin typeface="Segoe UI Emoji"/>
              </a:rPr>
              <a:t>🕵️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3666744"/>
            <a:ext cx="1691640" cy="34747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/>
            <a:r>
              <a:rPr sz="1400" b="1" i="0">
                <a:solidFill>
                  <a:srgbClr val="1B1930"/>
                </a:solidFill>
                <a:latin typeface="Aptos"/>
              </a:rPr>
              <a:t>Vrai ou Mensonge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3429000"/>
            <a:ext cx="260604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3593592"/>
            <a:ext cx="530352" cy="53035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2400" b="0" i="0">
                <a:solidFill>
                  <a:srgbClr val="1B1930"/>
                </a:solidFill>
                <a:latin typeface="Segoe UI Emoji"/>
              </a:rPr>
              <a:t>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3666744"/>
            <a:ext cx="1691640" cy="34747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/>
            <a:r>
              <a:rPr sz="1400" b="1" i="0">
                <a:solidFill>
                  <a:srgbClr val="1B1930"/>
                </a:solidFill>
                <a:latin typeface="Aptos"/>
              </a:rPr>
              <a:t>Pixel Architect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53728" y="3429000"/>
            <a:ext cx="2606040" cy="89611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3602736"/>
            <a:ext cx="2176272" cy="50292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l"/>
            <a:r>
              <a:rPr sz="1300" b="1" i="0">
                <a:solidFill>
                  <a:srgbClr val="473BA6"/>
                </a:solidFill>
                <a:latin typeface="Aptos"/>
              </a:rPr>
              <a:t>Catalogue évolutif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983480"/>
            <a:ext cx="1042416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68677C"/>
                </a:solidFill>
                <a:latin typeface="Aptos"/>
              </a:rPr>
              <a:t>Capacités documentées : création de sessions · assignation · animation live · suivi et résultats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83096"/>
            <a:ext cx="7772400" cy="1828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800" b="1" i="0">
                <a:solidFill>
                  <a:srgbClr val="8F8E9F"/>
                </a:solidFill>
                <a:latin typeface="Aptos"/>
              </a:rPr>
              <a:t>TEAMBLENDER  ·  INVESTOR DECK  ·  CONFIDENTIEL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55664"/>
            <a:ext cx="777240" cy="2011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r"/>
            <a:r>
              <a:rPr sz="900" b="1" i="0">
                <a:solidFill>
                  <a:srgbClr val="8F8E9F"/>
                </a:solidFill>
                <a:latin typeface="Aptos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89920" cy="23774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000" b="1" i="0">
                <a:solidFill>
                  <a:srgbClr val="C7F5E5"/>
                </a:solidFill>
                <a:latin typeface="Aptos"/>
              </a:rPr>
              <a:t>05 · CLIENTS &amp; UTILISATEURS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31520"/>
            <a:ext cx="10789920" cy="76809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"/>
              </a:rPr>
              <a:t>Un acheteur, un animateur, une équipe qui participe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6192"/>
            <a:ext cx="1051560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D3D0EC"/>
                </a:solidFill>
                <a:latin typeface="Aptos"/>
              </a:rPr>
              <a:t>La valeur se joue dans l’organisation et dans l’expérience collective.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331720"/>
            <a:ext cx="3401568" cy="2331720"/>
          </a:xfrm>
          <a:prstGeom prst="roundRect">
            <a:avLst>
              <a:gd name="adj" fmla="val 12000"/>
            </a:avLst>
          </a:prstGeom>
          <a:solidFill>
            <a:srgbClr val="312E51"/>
          </a:solidFill>
          <a:ln w="12700">
            <a:solidFill>
              <a:srgbClr val="4C4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544" y="249631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454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49631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🧑‍💼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054096"/>
            <a:ext cx="2999232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RH &amp;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557015"/>
            <a:ext cx="2999232" cy="978407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CFCCE3"/>
                </a:solidFill>
                <a:latin typeface="Aptos"/>
              </a:rPr>
              <a:t>Acheteur potentiel : veut déployer des activités cohérentes et réutilisables.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31720"/>
            <a:ext cx="3401568" cy="2331720"/>
          </a:xfrm>
          <a:prstGeom prst="roundRect">
            <a:avLst>
              <a:gd name="adj" fmla="val 12000"/>
            </a:avLst>
          </a:prstGeom>
          <a:solidFill>
            <a:srgbClr val="312E51"/>
          </a:solidFill>
          <a:ln w="12700">
            <a:solidFill>
              <a:srgbClr val="4C4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62856" y="249631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454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49631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054096"/>
            <a:ext cx="2999232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Manager / facilitateur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557015"/>
            <a:ext cx="2999232" cy="978407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CFCCE3"/>
                </a:solidFill>
                <a:latin typeface="Aptos"/>
              </a:rPr>
              <a:t>Utilisateur principal : prépare, lance et pilote la session.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331720"/>
            <a:ext cx="3401568" cy="2331720"/>
          </a:xfrm>
          <a:prstGeom prst="roundRect">
            <a:avLst>
              <a:gd name="adj" fmla="val 12000"/>
            </a:avLst>
          </a:prstGeom>
          <a:solidFill>
            <a:srgbClr val="312E51"/>
          </a:solidFill>
          <a:ln w="12700">
            <a:solidFill>
              <a:srgbClr val="4C4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2167" y="249631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454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7" y="249631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054096"/>
            <a:ext cx="2999232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Participants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557015"/>
            <a:ext cx="2999232" cy="978407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CFCCE3"/>
                </a:solidFill>
                <a:latin typeface="Aptos"/>
              </a:rPr>
              <a:t>Bénéficiaires : rejoignent le challenge et progressent ensemble.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389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D5D2EB"/>
                </a:solidFill>
                <a:latin typeface="Aptos"/>
              </a:rPr>
              <a:t>Segments de départ à tester : équipes hybrides · onboarding · séminaires · formation et cohésion.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83096"/>
            <a:ext cx="7772400" cy="1828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800" b="1" i="0">
                <a:solidFill>
                  <a:srgbClr val="B1AECD"/>
                </a:solidFill>
                <a:latin typeface="Aptos"/>
              </a:rPr>
              <a:t>TEAMBLENDER  ·  INVESTOR DECK  ·  CONFIDENTIEL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55664"/>
            <a:ext cx="777240" cy="2011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r"/>
            <a:r>
              <a:rPr sz="900" b="1" i="0">
                <a:solidFill>
                  <a:srgbClr val="B1AECD"/>
                </a:solidFill>
                <a:latin typeface="Aptos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89920" cy="23774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000" b="1" i="0">
                <a:solidFill>
                  <a:srgbClr val="473BA6"/>
                </a:solidFill>
                <a:latin typeface="Aptos"/>
              </a:rPr>
              <a:t>06 · OPPORTUNITÉ DE MARCHÉ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31520"/>
            <a:ext cx="10789920" cy="76809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2900" b="1" i="0">
                <a:solidFill>
                  <a:srgbClr val="1B1930"/>
                </a:solidFill>
                <a:latin typeface="Aptos"/>
              </a:rPr>
              <a:t>Un marché à quantifier par segment et géographie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6192"/>
            <a:ext cx="1051560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68677C"/>
                </a:solidFill>
                <a:latin typeface="Aptos"/>
              </a:rPr>
              <a:t>Les références produit ne contiennent pas de chiffre de marché : estimations à construire et sourcer.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3401568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8408" y="2532888"/>
            <a:ext cx="658368" cy="30175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555748"/>
            <a:ext cx="585216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473BA6"/>
                </a:solidFill>
                <a:latin typeface="Aptos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035808"/>
            <a:ext cx="292608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600" b="1" i="0">
                <a:solidFill>
                  <a:srgbClr val="1B1930"/>
                </a:solidFill>
                <a:latin typeface="Aptos"/>
              </a:rPr>
              <a:t>Marché total adressable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529584"/>
            <a:ext cx="2971800" cy="74980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Organisations pouvant acheter un logiciel de team building ou de facilitation.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331720"/>
            <a:ext cx="3401568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81727" y="2532888"/>
            <a:ext cx="658368" cy="30175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8303" y="2555748"/>
            <a:ext cx="585216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473BA6"/>
                </a:solidFill>
                <a:latin typeface="Aptos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3035808"/>
            <a:ext cx="292608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600" b="1" i="0">
                <a:solidFill>
                  <a:srgbClr val="1B1930"/>
                </a:solidFill>
                <a:latin typeface="Aptos"/>
              </a:rPr>
              <a:t>Marché accessible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3529584"/>
            <a:ext cx="2971800" cy="74980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Segments, langues et pays couverts à court terme.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331720"/>
            <a:ext cx="3401568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85048" y="2532888"/>
            <a:ext cx="658368" cy="30175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2555748"/>
            <a:ext cx="585216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473BA6"/>
                </a:solidFill>
                <a:latin typeface="Aptos"/>
              </a:rPr>
              <a:t>SOM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3035808"/>
            <a:ext cx="292608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600" b="1" i="0">
                <a:solidFill>
                  <a:srgbClr val="1B1930"/>
                </a:solidFill>
                <a:latin typeface="Aptos"/>
              </a:rPr>
              <a:t>Part atteignable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3529584"/>
            <a:ext cx="2971800" cy="74980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Comptes accessibles via les canaux et la capacité commerciale sur 3–5 ans.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91456"/>
            <a:ext cx="10716768" cy="658368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946904"/>
            <a:ext cx="10287000" cy="32918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1" i="0">
                <a:solidFill>
                  <a:srgbClr val="8F582A"/>
                </a:solidFill>
                <a:latin typeface="Aptos"/>
              </a:rPr>
              <a:t>Méthode : nombre d’organisations cibles × pénétration réaliste × revenu annuel moyen — sources à documenter.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83096"/>
            <a:ext cx="7772400" cy="1828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800" b="1" i="0">
                <a:solidFill>
                  <a:srgbClr val="8F8E9F"/>
                </a:solidFill>
                <a:latin typeface="Aptos"/>
              </a:rPr>
              <a:t>TEAMBLENDER  ·  INVESTOR DECK  ·  CONFIDENTIEL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011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r"/>
            <a:r>
              <a:rPr sz="900" b="1" i="0">
                <a:solidFill>
                  <a:srgbClr val="8F8E9F"/>
                </a:solidFill>
                <a:latin typeface="Aptos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89920" cy="23774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000" b="1" i="0">
                <a:solidFill>
                  <a:srgbClr val="473BA6"/>
                </a:solidFill>
                <a:latin typeface="Aptos"/>
              </a:rPr>
              <a:t>07 · MODÈLE ÉCONOMIQUE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31520"/>
            <a:ext cx="10789920" cy="76809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2900" b="1" i="0">
                <a:solidFill>
                  <a:srgbClr val="1B1930"/>
                </a:solidFill>
                <a:latin typeface="Aptos"/>
              </a:rPr>
              <a:t>Freemium pour découvrir, paliers pour grandir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6192"/>
            <a:ext cx="1051560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68677C"/>
                </a:solidFill>
                <a:latin typeface="Aptos"/>
              </a:rPr>
              <a:t>La grille fonctionnelle est définie ; la tarification monétaire reste à fixer et valider.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3401568" cy="2578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502920" cy="47548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2400" b="0" i="0">
                <a:solidFill>
                  <a:srgbClr val="1B1930"/>
                </a:solidFill>
                <a:latin typeface="Segoe UI Emoji"/>
              </a:rPr>
              <a:t>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3624" y="2569464"/>
            <a:ext cx="219456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1" i="0">
                <a:solidFill>
                  <a:srgbClr val="473BA6"/>
                </a:solidFill>
                <a:latin typeface="Aptos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099816"/>
            <a:ext cx="292608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600" b="1" i="0">
                <a:solidFill>
                  <a:srgbClr val="1B1930"/>
                </a:solidFill>
                <a:latin typeface="Aptos"/>
              </a:rPr>
              <a:t>Découverte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675887"/>
            <a:ext cx="2926080" cy="9601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200" b="0" i="0">
                <a:solidFill>
                  <a:srgbClr val="68677C"/>
                </a:solidFill>
                <a:latin typeface="Aptos"/>
              </a:rPr>
              <a:t>3 sessions / mois · 10 participants / session
Catalogue standard · sans export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286000"/>
            <a:ext cx="3401568" cy="2578608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 w="12700">
            <a:solidFill>
              <a:srgbClr val="BB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502920" cy="47548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2400" b="0" i="0">
                <a:solidFill>
                  <a:srgbClr val="1B1930"/>
                </a:solidFill>
                <a:latin typeface="Segoe UI Emoji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6944" y="2569464"/>
            <a:ext cx="219456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1" i="0">
                <a:solidFill>
                  <a:srgbClr val="473BA6"/>
                </a:solidFill>
                <a:latin typeface="Aptos"/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3099816"/>
            <a:ext cx="292608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600" b="1" i="0">
                <a:solidFill>
                  <a:srgbClr val="1B1930"/>
                </a:solidFill>
                <a:latin typeface="Aptos"/>
              </a:rPr>
              <a:t>Équipes en croissance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3675887"/>
            <a:ext cx="2926080" cy="9601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200" b="0" i="0">
                <a:solidFill>
                  <a:srgbClr val="68677C"/>
                </a:solidFill>
                <a:latin typeface="Aptos"/>
              </a:rPr>
              <a:t>30 sessions / mois · 100 participants / session
Catalogue complet · export 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286000"/>
            <a:ext cx="3401568" cy="2578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2468880"/>
            <a:ext cx="502920" cy="475488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2400" b="0" i="0">
                <a:solidFill>
                  <a:srgbClr val="1B1930"/>
                </a:solidFill>
                <a:latin typeface="Segoe UI Emoji"/>
              </a:rPr>
              <a:t>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0263" y="2569464"/>
            <a:ext cx="219456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1" i="0">
                <a:solidFill>
                  <a:srgbClr val="473BA6"/>
                </a:solidFill>
                <a:latin typeface="Aptos"/>
              </a:rPr>
              <a:t>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3099816"/>
            <a:ext cx="292608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600" b="1" i="0">
                <a:solidFill>
                  <a:srgbClr val="1B1930"/>
                </a:solidFill>
                <a:latin typeface="Aptos"/>
              </a:rPr>
              <a:t>Organisations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3675887"/>
            <a:ext cx="2926080" cy="9601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200" b="0" i="0">
                <a:solidFill>
                  <a:srgbClr val="68677C"/>
                </a:solidFill>
                <a:latin typeface="Aptos"/>
              </a:rPr>
              <a:t>Sessions et participants illimités
Sélecteurs personnalisés · CSV +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93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200" b="0" i="1">
                <a:solidFill>
                  <a:srgbClr val="68677C"/>
                </a:solidFill>
                <a:latin typeface="Aptos"/>
              </a:rPr>
              <a:t>Référence produit : essai de 14 jours sur Free et Pro. Enterprise : conditions personnalisées. Prix et ARPA non renseignés.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83096"/>
            <a:ext cx="7772400" cy="1828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800" b="1" i="0">
                <a:solidFill>
                  <a:srgbClr val="8F8E9F"/>
                </a:solidFill>
                <a:latin typeface="Aptos"/>
              </a:rPr>
              <a:t>TEAMBLENDER  ·  INVESTOR DECK  ·  CONFIDENTIEL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55664"/>
            <a:ext cx="777240" cy="2011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r"/>
            <a:r>
              <a:rPr sz="900" b="1" i="0">
                <a:solidFill>
                  <a:srgbClr val="8F8E9F"/>
                </a:solidFill>
                <a:latin typeface="Aptos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89920" cy="23774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000" b="1" i="0">
                <a:solidFill>
                  <a:srgbClr val="473BA6"/>
                </a:solidFill>
                <a:latin typeface="Aptos"/>
              </a:rPr>
              <a:t>08 ·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31520"/>
            <a:ext cx="10789920" cy="76809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2900" b="1" i="0">
                <a:solidFill>
                  <a:srgbClr val="1B1930"/>
                </a:solidFill>
                <a:latin typeface="Aptos"/>
              </a:rPr>
              <a:t>Commencer par un usage précis, apprendre vite, élargir ensuite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6192"/>
            <a:ext cx="1051560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68677C"/>
                </a:solidFill>
                <a:latin typeface="Aptos"/>
              </a:rPr>
              <a:t>Plan de commercialisation proposé — à valider par les premiers pilotes clients.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3401568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76" y="24505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45059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008376"/>
            <a:ext cx="2999232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B1930"/>
                </a:solidFill>
                <a:latin typeface="Aptos"/>
              </a:rPr>
              <a:t>Cibler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511296"/>
            <a:ext cx="2999232" cy="8869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Tester les équipes RH / L&amp;D et managers qui organisent régulièrement des sessions.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401568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62856" y="24505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45059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008376"/>
            <a:ext cx="2999232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B1930"/>
                </a:solidFill>
                <a:latin typeface="Aptos"/>
              </a:rPr>
              <a:t>Convertir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511296"/>
            <a:ext cx="2999232" cy="8869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Pilotes guidés : une équipe, un objectif, un challenge, un retour structuré.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286000"/>
            <a:ext cx="3401568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245059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45059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3008376"/>
            <a:ext cx="2999232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B1930"/>
                </a:solidFill>
                <a:latin typeface="Aptos"/>
              </a:rPr>
              <a:t>Répéter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3511296"/>
            <a:ext cx="2999232" cy="8869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Capitaliser sur les formats appréciés, cas clients et recommandations internes.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92624"/>
            <a:ext cx="10332720" cy="53035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68677C"/>
                </a:solidFill>
                <a:latin typeface="Aptos"/>
              </a:rPr>
              <a:t>Canaux à tester : vente directe ciblée · partenaires facilitateurs · contenu · recommandations.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83096"/>
            <a:ext cx="7772400" cy="1828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800" b="1" i="0">
                <a:solidFill>
                  <a:srgbClr val="8F8E9F"/>
                </a:solidFill>
                <a:latin typeface="Aptos"/>
              </a:rPr>
              <a:t>TEAMBLENDER  ·  INVESTOR DECK  ·  CONFIDENTIEL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55664"/>
            <a:ext cx="777240" cy="2011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r"/>
            <a:r>
              <a:rPr sz="900" b="1" i="0">
                <a:solidFill>
                  <a:srgbClr val="8F8E9F"/>
                </a:solidFill>
                <a:latin typeface="Aptos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89920" cy="23774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000" b="1" i="0">
                <a:solidFill>
                  <a:srgbClr val="473BA6"/>
                </a:solidFill>
                <a:latin typeface="Aptos"/>
              </a:rPr>
              <a:t>09 · POSITIONNEMENT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31520"/>
            <a:ext cx="10789920" cy="76809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2900" b="1" i="0">
                <a:solidFill>
                  <a:srgbClr val="1B1930"/>
                </a:solidFill>
                <a:latin typeface="Aptos"/>
              </a:rPr>
              <a:t>La différenciation à démontrer : orchestration + participation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6192"/>
            <a:ext cx="1051560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68677C"/>
                </a:solidFill>
                <a:latin typeface="Aptos"/>
              </a:rPr>
              <a:t>Positionnement stratégique à tester face aux solutions réellement utilisées par les clients.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212848"/>
            <a:ext cx="10469880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50592"/>
            <a:ext cx="219456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1" i="0">
                <a:solidFill>
                  <a:srgbClr val="473BA6"/>
                </a:solidFill>
                <a:latin typeface="Aptos"/>
              </a:rPr>
              <a:t>Alternative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450592"/>
            <a:ext cx="164592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1" i="0">
                <a:solidFill>
                  <a:srgbClr val="473BA6"/>
                </a:solidFill>
                <a:latin typeface="Aptos"/>
              </a:rPr>
              <a:t>Organisation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2450592"/>
            <a:ext cx="160020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1" i="0">
                <a:solidFill>
                  <a:srgbClr val="473BA6"/>
                </a:solidFill>
                <a:latin typeface="Aptos"/>
              </a:rPr>
              <a:t>Animation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450592"/>
            <a:ext cx="132588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1" i="0">
                <a:solidFill>
                  <a:srgbClr val="473BA6"/>
                </a:solidFill>
                <a:latin typeface="Aptos"/>
              </a:rPr>
              <a:t>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450592"/>
            <a:ext cx="109728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1" i="0">
                <a:solidFill>
                  <a:srgbClr val="473BA6"/>
                </a:solidFill>
                <a:latin typeface="Aptos"/>
              </a:rPr>
              <a:t>Suivi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98648"/>
            <a:ext cx="219456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Outils génériques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98648"/>
            <a:ext cx="164592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À comparer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898648"/>
            <a:ext cx="160020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À comparer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898648"/>
            <a:ext cx="132588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Variable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898648"/>
            <a:ext cx="109728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Variable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38144"/>
            <a:ext cx="219456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Prestataire / animation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438144"/>
            <a:ext cx="164592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Externalisée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438144"/>
            <a:ext cx="160020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Humaine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438144"/>
            <a:ext cx="132588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Selon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438144"/>
            <a:ext cx="109728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À cadrer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3922776"/>
            <a:ext cx="10149840" cy="429768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977639"/>
            <a:ext cx="219456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1" i="0">
                <a:solidFill>
                  <a:srgbClr val="1B1930"/>
                </a:solidFill>
                <a:latin typeface="Aptos"/>
              </a:rPr>
              <a:t>TeamBlender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977639"/>
            <a:ext cx="164592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1" i="0">
                <a:solidFill>
                  <a:srgbClr val="1B1930"/>
                </a:solidFill>
                <a:latin typeface="Aptos"/>
              </a:rPr>
              <a:t>Session intégrée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3977639"/>
            <a:ext cx="160020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1" i="0">
                <a:solidFill>
                  <a:srgbClr val="1B1930"/>
                </a:solidFill>
                <a:latin typeface="Aptos"/>
              </a:rPr>
              <a:t>Pilotage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977639"/>
            <a:ext cx="132588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1" i="0">
                <a:solidFill>
                  <a:srgbClr val="1B1930"/>
                </a:solidFill>
                <a:latin typeface="Aptos"/>
              </a:rPr>
              <a:t>7 formats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977639"/>
            <a:ext cx="1097280" cy="25603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1" i="0">
                <a:solidFill>
                  <a:srgbClr val="1B1930"/>
                </a:solidFill>
                <a:latin typeface="Aptos"/>
              </a:rPr>
              <a:t>Résultats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200" b="0" i="1">
                <a:solidFill>
                  <a:srgbClr val="68677C"/>
                </a:solidFill>
                <a:latin typeface="Aptos"/>
              </a:rPr>
              <a:t>Pas de benchmark vérifié dans les sources disponibles. Valider substituts, coûts, usage et critères d’achat en entretiens.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83096"/>
            <a:ext cx="7772400" cy="1828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800" b="1" i="0">
                <a:solidFill>
                  <a:srgbClr val="8F8E9F"/>
                </a:solidFill>
                <a:latin typeface="Aptos"/>
              </a:rPr>
              <a:t>TEAMBLENDER  ·  INVESTOR DECK  ·  CONFIDENTIEL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55664"/>
            <a:ext cx="777240" cy="2011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r"/>
            <a:r>
              <a:rPr sz="900" b="1" i="0">
                <a:solidFill>
                  <a:srgbClr val="8F8E9F"/>
                </a:solidFill>
                <a:latin typeface="Apto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89920" cy="23774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000" b="1" i="0">
                <a:solidFill>
                  <a:srgbClr val="C7F5E5"/>
                </a:solidFill>
                <a:latin typeface="Aptos"/>
              </a:rPr>
              <a:t>10 · TRACTION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31520"/>
            <a:ext cx="10789920" cy="76809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"/>
              </a:rPr>
              <a:t>Le produit existe. Les preuves de marché restent à documenter.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6192"/>
            <a:ext cx="1051560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D3D0EC"/>
                </a:solidFill>
                <a:latin typeface="Aptos"/>
              </a:rPr>
              <a:t>Aucun chiffre de clients, de revenus ou de rétention n’est affiché sans source validée.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3383280" cy="2331720"/>
          </a:xfrm>
          <a:prstGeom prst="roundRect">
            <a:avLst>
              <a:gd name="adj" fmla="val 12000"/>
            </a:avLst>
          </a:prstGeom>
          <a:solidFill>
            <a:srgbClr val="312E51"/>
          </a:solidFill>
          <a:ln w="12700">
            <a:solidFill>
              <a:srgbClr val="4C4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76" y="249631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454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49631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054096"/>
            <a:ext cx="2980944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Produit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557015"/>
            <a:ext cx="2980944" cy="978407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CFCCE3"/>
                </a:solidFill>
                <a:latin typeface="Aptos"/>
              </a:rPr>
              <a:t>MVP documenté : sessions, participants, challenges live et résultats.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331720"/>
            <a:ext cx="3383280" cy="2331720"/>
          </a:xfrm>
          <a:prstGeom prst="roundRect">
            <a:avLst>
              <a:gd name="adj" fmla="val 12000"/>
            </a:avLst>
          </a:prstGeom>
          <a:solidFill>
            <a:srgbClr val="312E51"/>
          </a:solidFill>
          <a:ln w="12700">
            <a:solidFill>
              <a:srgbClr val="4C4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81144" y="249631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454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49631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3054096"/>
            <a:ext cx="2980944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557015"/>
            <a:ext cx="2980944" cy="978407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CFCCE3"/>
                </a:solidFill>
                <a:latin typeface="Aptos"/>
              </a:rPr>
              <a:t>À renseigner : organisations pilotes, utilisateurs actifs, sessions lancées.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2331720"/>
            <a:ext cx="3383280" cy="2331720"/>
          </a:xfrm>
          <a:prstGeom prst="roundRect">
            <a:avLst>
              <a:gd name="adj" fmla="val 12000"/>
            </a:avLst>
          </a:prstGeom>
          <a:solidFill>
            <a:srgbClr val="312E51"/>
          </a:solidFill>
          <a:ln w="12700">
            <a:solidFill>
              <a:srgbClr val="4C4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11311" y="249631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454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1" y="249631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054096"/>
            <a:ext cx="2980944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Revenu &amp; rétention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557015"/>
            <a:ext cx="2980944" cy="978407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CFCCE3"/>
                </a:solidFill>
                <a:latin typeface="Aptos"/>
              </a:rPr>
              <a:t>À renseigner : MRR, conversion Free→Pro, renouvellement, churn.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47488"/>
            <a:ext cx="10424160" cy="566928"/>
          </a:xfrm>
          <a:prstGeom prst="roundRect">
            <a:avLst>
              <a:gd name="adj" fmla="val 12000"/>
            </a:avLst>
          </a:prstGeom>
          <a:solidFill>
            <a:srgbClr val="3A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5184648"/>
            <a:ext cx="10012680" cy="29260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1" i="0">
                <a:solidFill>
                  <a:srgbClr val="C7F5E5"/>
                </a:solidFill>
                <a:latin typeface="Aptos"/>
              </a:rPr>
              <a:t>Priorité : instrumenter l’entonnoir et obtenir des témoignages / études de cas consentis.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83096"/>
            <a:ext cx="7772400" cy="1828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800" b="1" i="0">
                <a:solidFill>
                  <a:srgbClr val="B1AECD"/>
                </a:solidFill>
                <a:latin typeface="Aptos"/>
              </a:rPr>
              <a:t>TEAMBLENDER  ·  INVESTOR DECK  ·  CONFIDENTIEL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011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r"/>
            <a:r>
              <a:rPr sz="900" b="1" i="0">
                <a:solidFill>
                  <a:srgbClr val="B1AECD"/>
                </a:solidFill>
                <a:latin typeface="Apto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89920" cy="23774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000" b="1" i="0">
                <a:solidFill>
                  <a:srgbClr val="473BA6"/>
                </a:solidFill>
                <a:latin typeface="Aptos"/>
              </a:rPr>
              <a:t>11 · ROADMAP PROPOSÉE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31520"/>
            <a:ext cx="10789920" cy="76809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2900" b="1" i="0">
                <a:solidFill>
                  <a:srgbClr val="1B1930"/>
                </a:solidFill>
                <a:latin typeface="Aptos"/>
              </a:rPr>
              <a:t>Trois étapes pour passer du MVP à une croissance mesurable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6192"/>
            <a:ext cx="1051560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68677C"/>
                </a:solidFill>
                <a:latin typeface="Aptos"/>
              </a:rPr>
              <a:t>Jalons proposés ; calendrier et priorités à confirmer avec les retours clients.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59152"/>
            <a:ext cx="3429000" cy="2578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566928" cy="521207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2600" b="0" i="0">
                <a:solidFill>
                  <a:srgbClr val="1B1930"/>
                </a:solidFill>
                <a:latin typeface="Segoe UI Emoji"/>
              </a:rPr>
              <a:t>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92608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700" b="1" i="0">
                <a:solidFill>
                  <a:srgbClr val="1B1930"/>
                </a:solidFill>
                <a:latin typeface="Aptos"/>
              </a:rPr>
              <a:t>01 · Mesurer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785615"/>
            <a:ext cx="2880360" cy="96926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68677C"/>
                </a:solidFill>
                <a:latin typeface="Aptos"/>
              </a:rPr>
              <a:t>Instrumentation produit
Pilotes ciblés
Boucle de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7992" y="2359152"/>
            <a:ext cx="3429000" cy="2578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2560320"/>
            <a:ext cx="566928" cy="521207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2600" b="0" i="0">
                <a:solidFill>
                  <a:srgbClr val="1B1930"/>
                </a:solidFill>
                <a:latin typeface="Segoe UI Emoji"/>
              </a:rPr>
              <a:t>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246120"/>
            <a:ext cx="292608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700" b="1" i="0">
                <a:solidFill>
                  <a:srgbClr val="1B1930"/>
                </a:solidFill>
                <a:latin typeface="Aptos"/>
              </a:rPr>
              <a:t>02 · Convertir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785615"/>
            <a:ext cx="2880360" cy="96926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68677C"/>
                </a:solidFill>
                <a:latin typeface="Aptos"/>
              </a:rPr>
              <a:t>Onboarding simplifié
Positionnement &amp; prix testés
Premiers cas clients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2359152"/>
            <a:ext cx="3429000" cy="2578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2560320"/>
            <a:ext cx="566928" cy="521207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2600" b="0" i="0">
                <a:solidFill>
                  <a:srgbClr val="1B1930"/>
                </a:solidFill>
                <a:latin typeface="Segoe UI Emoji"/>
              </a:rP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3246120"/>
            <a:ext cx="292608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700" b="1" i="0">
                <a:solidFill>
                  <a:srgbClr val="1B1930"/>
                </a:solidFill>
                <a:latin typeface="Aptos"/>
              </a:rPr>
              <a:t>03 · Déployer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3785615"/>
            <a:ext cx="2880360" cy="96926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68677C"/>
                </a:solidFill>
                <a:latin typeface="Aptos"/>
              </a:rPr>
              <a:t>Répétabilité commerciale
Catalogue &amp; expérience affinés
Préparation 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83096"/>
            <a:ext cx="7772400" cy="1828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800" b="1" i="0">
                <a:solidFill>
                  <a:srgbClr val="8F8E9F"/>
                </a:solidFill>
                <a:latin typeface="Aptos"/>
              </a:rPr>
              <a:t>TEAMBLENDER  ·  INVESTOR DECK  ·  CONFIDENTIEL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55664"/>
            <a:ext cx="777240" cy="2011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r"/>
            <a:r>
              <a:rPr sz="900" b="1" i="0">
                <a:solidFill>
                  <a:srgbClr val="8F8E9F"/>
                </a:solidFill>
                <a:latin typeface="Apto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89920" cy="23774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000" b="1" i="0">
                <a:solidFill>
                  <a:srgbClr val="473BA6"/>
                </a:solidFill>
                <a:latin typeface="Aptos"/>
              </a:rPr>
              <a:t>12 · ÉCONOMIE UNITAIRE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31520"/>
            <a:ext cx="10789920" cy="76809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2900" b="1" i="0">
                <a:solidFill>
                  <a:srgbClr val="1B1930"/>
                </a:solidFill>
                <a:latin typeface="Aptos"/>
              </a:rPr>
              <a:t>Les métriques qui feront la preuve du modèle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6192"/>
            <a:ext cx="1051560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68677C"/>
                </a:solidFill>
                <a:latin typeface="Aptos"/>
              </a:rPr>
              <a:t>Pas de prévision fiable sans prix, conversion, coûts de service et données d’usage.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516636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6696" y="240487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40487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962656"/>
            <a:ext cx="4764024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B1930"/>
                </a:solidFill>
                <a:latin typeface="Aptos"/>
              </a:rPr>
              <a:t>ARPA / MRR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465576"/>
            <a:ext cx="4764024" cy="-21945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Revenu mensuel par compte et répartition des plans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240280"/>
            <a:ext cx="516636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83096" y="240487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404872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962656"/>
            <a:ext cx="4764024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B1930"/>
                </a:solidFill>
                <a:latin typeface="Aptos"/>
              </a:rPr>
              <a:t>Rétention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465576"/>
            <a:ext cx="4764024" cy="-21945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Renouvellement, churn logo et churn revenu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30168"/>
            <a:ext cx="516636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96696" y="37947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3794760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352544"/>
            <a:ext cx="4764024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B1930"/>
                </a:solidFill>
                <a:latin typeface="Aptos"/>
              </a:rPr>
              <a:t>Acquisition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855464"/>
            <a:ext cx="4764024" cy="-21945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CAC par canal, cycle de vente et conversion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30168"/>
            <a:ext cx="516636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83096" y="37947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3794760"/>
            <a:ext cx="438912" cy="438912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1900" b="0" i="0">
                <a:solidFill>
                  <a:srgbClr val="1B1930"/>
                </a:solidFill>
                <a:latin typeface="Segoe UI Emoji"/>
              </a:rPr>
              <a:t>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352544"/>
            <a:ext cx="4764024" cy="47548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500" b="1" i="0">
                <a:solidFill>
                  <a:srgbClr val="1B1930"/>
                </a:solidFill>
                <a:latin typeface="Aptos"/>
              </a:rPr>
              <a:t>Marge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855464"/>
            <a:ext cx="4764024" cy="-21945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100" b="0" i="0">
                <a:solidFill>
                  <a:srgbClr val="68677C"/>
                </a:solidFill>
                <a:latin typeface="Aptos"/>
              </a:rPr>
              <a:t>Coûts d’infrastructure, support et marge brute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230368"/>
            <a:ext cx="10607040" cy="548640"/>
          </a:xfrm>
          <a:prstGeom prst="roundRect">
            <a:avLst>
              <a:gd name="adj" fmla="val 12000"/>
            </a:avLst>
          </a:prstGeom>
          <a:solidFill>
            <a:srgbClr val="E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5367528"/>
            <a:ext cx="1014984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200" b="1" i="0">
                <a:solidFill>
                  <a:srgbClr val="473BA6"/>
                </a:solidFill>
                <a:latin typeface="Aptos"/>
              </a:rPr>
              <a:t>À suivre : CAC payback · LTV/CAC · activation · conversion essai → payant · rétention par cohorte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83096"/>
            <a:ext cx="7772400" cy="1828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800" b="1" i="0">
                <a:solidFill>
                  <a:srgbClr val="8F8E9F"/>
                </a:solidFill>
                <a:latin typeface="Aptos"/>
              </a:rPr>
              <a:t>TEAMBLENDER  ·  INVESTOR DECK  ·  CONFIDENTIEL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55664"/>
            <a:ext cx="777240" cy="2011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r"/>
            <a:r>
              <a:rPr sz="900" b="1" i="0">
                <a:solidFill>
                  <a:srgbClr val="8F8E9F"/>
                </a:solidFill>
                <a:latin typeface="Apto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65760"/>
            <a:ext cx="10789920" cy="237744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000" b="1" i="0">
                <a:solidFill>
                  <a:srgbClr val="C7F5E5"/>
                </a:solidFill>
                <a:latin typeface="Aptos"/>
              </a:rPr>
              <a:t>13 · FINANCEMENT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31520"/>
            <a:ext cx="10789920" cy="768096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"/>
              </a:rPr>
              <a:t>Financer la preuve : usage récurrent, conversion et canal reproductible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6192"/>
            <a:ext cx="10515600" cy="5029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300" b="0" i="0">
                <a:solidFill>
                  <a:srgbClr val="D3D0EC"/>
                </a:solidFill>
                <a:latin typeface="Aptos"/>
              </a:rPr>
              <a:t>Montant recherché à définir selon le runway cible, le budget détaillé et les objectifs de levée.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12848"/>
            <a:ext cx="3657600" cy="2487168"/>
          </a:xfrm>
          <a:prstGeom prst="roundRect">
            <a:avLst>
              <a:gd name="adj" fmla="val 12000"/>
            </a:avLst>
          </a:prstGeom>
          <a:solidFill>
            <a:srgbClr val="322E53"/>
          </a:solidFill>
          <a:ln w="12700">
            <a:solidFill>
              <a:srgbClr val="524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42032"/>
            <a:ext cx="3063240" cy="32004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ctr"/>
            <a:r>
              <a:rPr sz="1100" b="1" i="0">
                <a:solidFill>
                  <a:srgbClr val="C7F5E5"/>
                </a:solidFill>
                <a:latin typeface="Aptos"/>
              </a:rPr>
              <a:t>MONTANT À RENSEIGNER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063240"/>
            <a:ext cx="3127248" cy="6858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ptos"/>
              </a:rPr>
              <a:t>€  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913632"/>
            <a:ext cx="2971800" cy="347472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ctr"/>
            <a:r>
              <a:rPr sz="1400" b="0" i="0">
                <a:solidFill>
                  <a:srgbClr val="D6D3EB"/>
                </a:solidFill>
                <a:latin typeface="Aptos"/>
              </a:rPr>
              <a:t>Runway cible : ____ mois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9472" y="2304288"/>
            <a:ext cx="594360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ptos"/>
              </a:rPr>
              <a:t>Utilisation proposée des fonds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192" y="2880360"/>
            <a:ext cx="292608" cy="29260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400" b="1" i="0">
                <a:solidFill>
                  <a:srgbClr val="C7F5E5"/>
                </a:solidFill>
                <a:latin typeface="Segoe UI Emoj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880360"/>
            <a:ext cx="5376672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ptos"/>
              </a:rPr>
              <a:t>Produit &amp; fiabilité — budget à chiffrer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5192" y="3502152"/>
            <a:ext cx="292608" cy="29260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400" b="1" i="0">
                <a:solidFill>
                  <a:srgbClr val="C7F5E5"/>
                </a:solidFill>
                <a:latin typeface="Segoe UI Emoj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3502152"/>
            <a:ext cx="5376672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ptos"/>
              </a:rPr>
              <a:t>Pilotes, recherche client &amp; mesure d’usage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4123944"/>
            <a:ext cx="292608" cy="29260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400" b="1" i="0">
                <a:solidFill>
                  <a:srgbClr val="C7F5E5"/>
                </a:solidFill>
                <a:latin typeface="Segoe UI Emoj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123944"/>
            <a:ext cx="5376672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ptos"/>
              </a:rPr>
              <a:t>Go-to-market &amp; recrutements clés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5074920"/>
            <a:ext cx="5852160" cy="54864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1200" b="1" i="0">
                <a:solidFill>
                  <a:srgbClr val="C7F5E5"/>
                </a:solidFill>
                <a:latin typeface="Aptos"/>
              </a:rPr>
              <a:t>Objectifs : ____ pilotes · ____ comptes payants · ____ MRR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83096"/>
            <a:ext cx="7772400" cy="1828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800" b="1" i="0">
                <a:solidFill>
                  <a:srgbClr val="B1AECD"/>
                </a:solidFill>
                <a:latin typeface="Aptos"/>
              </a:rPr>
              <a:t>TEAMBLENDER  ·  INVESTOR DECK  ·  CONFIDENTIEL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55664"/>
            <a:ext cx="777240" cy="2011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r"/>
            <a:r>
              <a:rPr sz="900" b="1" i="0">
                <a:solidFill>
                  <a:srgbClr val="B1AECD"/>
                </a:solidFill>
                <a:latin typeface="Apto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4920" y="914400"/>
            <a:ext cx="2011680" cy="1371600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7800" b="0" i="0">
                <a:solidFill>
                  <a:srgbClr val="1B1930"/>
                </a:solidFill>
                <a:latin typeface="Segoe UI Emoji"/>
              </a:rPr>
              <a:t>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14600"/>
            <a:ext cx="10149840" cy="10972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ptos"/>
              </a:rPr>
              <a:t>Construisons des équipes
qui avancent ensemble.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3931920"/>
            <a:ext cx="84124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ctr"/>
            <a:r>
              <a:rPr sz="1600" b="0" i="0">
                <a:solidFill>
                  <a:srgbClr val="D8D5EE"/>
                </a:solidFill>
                <a:latin typeface="Aptos"/>
              </a:rPr>
              <a:t>TeamBlender transforme une activité de groupe en expérience collaborative pilotée.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50208" y="5001768"/>
            <a:ext cx="4297680" cy="301752"/>
          </a:xfrm>
          <a:prstGeom prst="roundRect">
            <a:avLst>
              <a:gd name="adj" fmla="val 12000"/>
            </a:avLst>
          </a:prstGeom>
          <a:solidFill>
            <a:srgbClr val="41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86784" y="5024628"/>
            <a:ext cx="4224528" cy="237744"/>
          </a:xfrm>
          <a:prstGeom prst="rect">
            <a:avLst/>
          </a:prstGeom>
          <a:noFill/>
        </p:spPr>
        <p:txBody>
          <a:bodyPr wrap="square" lIns="18288" rIns="18288" tIns="13716" bIns="13716" anchor="ctr">
            <a:spAutoFit/>
          </a:bodyPr>
          <a:lstStyle/>
          <a:p>
            <a:pPr algn="ctr"/>
            <a:r>
              <a:rPr sz="900" b="1" i="0">
                <a:solidFill>
                  <a:srgbClr val="E6E2FF"/>
                </a:solidFill>
                <a:latin typeface="Aptos"/>
              </a:rPr>
              <a:t>ÉCHANGE INVESTISSEUR · PILOTE · PARTENARIAT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83096"/>
            <a:ext cx="7772400" cy="18288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l"/>
            <a:r>
              <a:rPr sz="800" b="1" i="0">
                <a:solidFill>
                  <a:srgbClr val="B1AECD"/>
                </a:solidFill>
                <a:latin typeface="Aptos"/>
              </a:rPr>
              <a:t>TEAMBLENDER  ·  INVESTOR DECK  ·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55664"/>
            <a:ext cx="777240" cy="2011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 algn="r"/>
            <a:r>
              <a:rPr sz="900" b="1" i="0">
                <a:solidFill>
                  <a:srgbClr val="B1AECD"/>
                </a:solidFill>
                <a:latin typeface="Aptos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TeamBlender — Investor Deck</dc:title>
  <dc:subject>Présentation investisseur complète</dc:subject>
  <dc:creator>TeamBlender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